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urovers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945363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8288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3946"/>
                </a:solidFill>
              </a:defRPr>
            </a:pPr>
            <a:r>
              <a:t>FINAL YEAR DESIGN PROJECT (FYDP-II) • FINAL DEFENSE</a:t>
            </a:r>
          </a:p>
          <a:p>
            <a:pPr>
              <a:defRPr sz="5600" b="1">
                <a:solidFill>
                  <a:srgbClr val="4E3839"/>
                </a:solidFill>
                <a:latin typeface="Georgia"/>
              </a:defRPr>
            </a:pPr>
            <a:r>
              <a:t>NeuroVerse</a:t>
            </a:r>
          </a:p>
          <a:p>
            <a:pPr>
              <a:defRPr sz="1800">
                <a:solidFill>
                  <a:srgbClr val="6C564C"/>
                </a:solidFill>
                <a:latin typeface="Arial"/>
              </a:defRPr>
            </a:pPr>
            <a:r>
              <a:t>An AI-Integrated Student Mental Health &amp; Wellness Ecosystem with Decoupled Real-Time Microservice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D6456"/>
                </a:solidFill>
              </a:defRPr>
            </a:pPr>
            <a:r>
              <a:t>Course: CSE 4800 / CSE 4889 Final Year Design Project II  |  Department of Computer Science &amp; Engineering  |  UIU</a:t>
            </a:r>
            <a:br/>
            <a:r>
              <a:t>Team: Team NeuroLink  |  Status: Operational Full-Stack &amp; Machine Learning Microservice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urovers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1346789" cy="411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326880" y="347472"/>
            <a:ext cx="2377440" cy="365760"/>
          </a:xfrm>
          <a:prstGeom prst="roundRect">
            <a:avLst/>
          </a:prstGeom>
          <a:solidFill>
            <a:srgbClr val="F4E2D3"/>
          </a:solidFill>
          <a:ln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E3B21"/>
                </a:solidFill>
              </a:defRPr>
            </a:pPr>
            <a:r>
              <a:t>PROJECT TEAM  •  02/27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E3839"/>
                </a:solidFill>
                <a:latin typeface="Georgia"/>
              </a:defRPr>
            </a:pPr>
            <a:r>
              <a:t>Team NeuroLink &amp; Role Allocations</a:t>
            </a:r>
          </a:p>
          <a:p>
            <a:pPr>
              <a:defRPr sz="1200">
                <a:solidFill>
                  <a:srgbClr val="6C564C"/>
                </a:solidFill>
                <a:latin typeface="Arial"/>
              </a:defRPr>
            </a:pPr>
            <a:r>
              <a:t>Multidisciplinary student team delivering the end-to-end full stack, machine learning &amp; clinical 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214884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E3839"/>
                </a:solidFill>
                <a:latin typeface="Georgia"/>
              </a:defRPr>
            </a:pPr>
            <a:r>
              <a:t>MS</a:t>
            </a:r>
            <a:br/>
            <a:r>
              <a:t>Muhiminul Amin Shafin</a:t>
            </a:r>
          </a:p>
          <a:p>
            <a:pPr>
              <a:defRPr sz="1100" b="1">
                <a:solidFill>
                  <a:srgbClr val="E63946"/>
                </a:solidFill>
              </a:defRPr>
            </a:pPr>
            <a:r>
              <a:t>ID: 011221456</a:t>
            </a:r>
            <a:br/>
          </a:p>
          <a:p>
            <a:pPr>
              <a:defRPr sz="1000">
                <a:solidFill>
                  <a:srgbClr val="2E2522"/>
                </a:solidFill>
              </a:defRPr>
            </a:pPr>
            <a:r>
              <a:t>• System Architecture</a:t>
            </a:r>
            <a:br/>
            <a:r>
              <a:t>• Node/Express Backend</a:t>
            </a:r>
            <a:br/>
            <a:r>
              <a:t>• JWT Security &amp; RBAC</a:t>
            </a:r>
            <a:br/>
            <a:r>
              <a:t>• MongoDB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011680"/>
            <a:ext cx="214884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E3839"/>
                </a:solidFill>
                <a:latin typeface="Georgia"/>
              </a:defRPr>
            </a:pPr>
            <a:r>
              <a:t>MA</a:t>
            </a:r>
            <a:br/>
            <a:r>
              <a:t>MD Annan</a:t>
            </a:r>
          </a:p>
          <a:p>
            <a:pPr>
              <a:defRPr sz="1100" b="1">
                <a:solidFill>
                  <a:srgbClr val="2A9D8F"/>
                </a:solidFill>
              </a:defRPr>
            </a:pPr>
            <a:r>
              <a:t>ID: 011222128</a:t>
            </a:r>
            <a:br/>
          </a:p>
          <a:p>
            <a:pPr>
              <a:defRPr sz="1000">
                <a:solidFill>
                  <a:srgbClr val="2E2522"/>
                </a:solidFill>
              </a:defRPr>
            </a:pPr>
            <a:r>
              <a:t>• ML Pipeline Engineering</a:t>
            </a:r>
            <a:br/>
            <a:r>
              <a:t>• NLP Sentiment Triage</a:t>
            </a:r>
            <a:br/>
            <a:r>
              <a:t>• Crisis Classification</a:t>
            </a:r>
            <a:br/>
            <a:r>
              <a:t>• Model Benchmarking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2011680"/>
            <a:ext cx="214884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E3839"/>
                </a:solidFill>
                <a:latin typeface="Georgia"/>
              </a:defRPr>
            </a:pPr>
            <a:r>
              <a:t>WS</a:t>
            </a:r>
            <a:br/>
            <a:r>
              <a:t>Wasiur Rahman Sakib</a:t>
            </a:r>
          </a:p>
          <a:p>
            <a:pPr>
              <a:defRPr sz="1100" b="1">
                <a:solidFill>
                  <a:srgbClr val="E76F51"/>
                </a:solidFill>
              </a:defRPr>
            </a:pPr>
            <a:r>
              <a:t>ID: 0112230747</a:t>
            </a:r>
            <a:br/>
          </a:p>
          <a:p>
            <a:pPr>
              <a:defRPr sz="1000">
                <a:solidFill>
                  <a:srgbClr val="2E2522"/>
                </a:solidFill>
              </a:defRPr>
            </a:pPr>
            <a:r>
              <a:t>• FastAPI Microservice</a:t>
            </a:r>
            <a:br/>
            <a:r>
              <a:t>• Target Leakage Fix</a:t>
            </a:r>
            <a:br/>
            <a:r>
              <a:t>• Linear Regression</a:t>
            </a:r>
            <a:br/>
            <a:r>
              <a:t>• Feature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2011680"/>
            <a:ext cx="214884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E3839"/>
                </a:solidFill>
                <a:latin typeface="Georgia"/>
              </a:defRPr>
            </a:pPr>
            <a:r>
              <a:t>AS</a:t>
            </a:r>
            <a:br/>
            <a:r>
              <a:t>Md. Asif Sarkar</a:t>
            </a:r>
          </a:p>
          <a:p>
            <a:pPr>
              <a:defRPr sz="1100" b="1">
                <a:solidFill>
                  <a:srgbClr val="457B9D"/>
                </a:solidFill>
              </a:defRPr>
            </a:pPr>
            <a:r>
              <a:t>ID: 0112230037</a:t>
            </a:r>
            <a:br/>
          </a:p>
          <a:p>
            <a:pPr>
              <a:defRPr sz="1000">
                <a:solidFill>
                  <a:srgbClr val="2E2522"/>
                </a:solidFill>
              </a:defRPr>
            </a:pPr>
            <a:r>
              <a:t>• React 18 Frontend</a:t>
            </a:r>
            <a:br/>
            <a:r>
              <a:t>• Wellness Dashboard</a:t>
            </a:r>
            <a:br/>
            <a:r>
              <a:t>• Telemetry Widgets</a:t>
            </a:r>
            <a:br/>
            <a:r>
              <a:t>• Axios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2011680"/>
            <a:ext cx="214884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E3839"/>
                </a:solidFill>
                <a:latin typeface="Georgia"/>
              </a:defRPr>
            </a:pPr>
            <a:r>
              <a:t>SA</a:t>
            </a:r>
            <a:br/>
            <a:r>
              <a:t>Mirza Samawatun Astha</a:t>
            </a:r>
          </a:p>
          <a:p>
            <a:pPr>
              <a:defRPr sz="1100" b="1">
                <a:solidFill>
                  <a:srgbClr val="8338EC"/>
                </a:solidFill>
              </a:defRPr>
            </a:pPr>
            <a:r>
              <a:t>ID: 0112230887</a:t>
            </a:r>
            <a:br/>
          </a:p>
          <a:p>
            <a:pPr>
              <a:defRPr sz="1000">
                <a:solidFill>
                  <a:srgbClr val="2E2522"/>
                </a:solidFill>
              </a:defRPr>
            </a:pPr>
            <a:r>
              <a:t>• Peer Support Forum</a:t>
            </a:r>
            <a:br/>
            <a:r>
              <a:t>• Therapist Booking</a:t>
            </a:r>
            <a:br/>
            <a:r>
              <a:t>• Emergency Clinical Hub</a:t>
            </a:r>
            <a:br/>
            <a:r>
              <a:t>• UX &amp; Testing QA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urovers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1346789" cy="411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326880" y="347472"/>
            <a:ext cx="2377440" cy="365760"/>
          </a:xfrm>
          <a:prstGeom prst="roundRect">
            <a:avLst/>
          </a:prstGeom>
          <a:solidFill>
            <a:srgbClr val="F4E2D3"/>
          </a:solidFill>
          <a:ln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E3B21"/>
                </a:solidFill>
              </a:defRPr>
            </a:pPr>
            <a:r>
              <a:t>PROBLEM STATEMENT  •  03/27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E3839"/>
                </a:solidFill>
                <a:latin typeface="Georgia"/>
              </a:defRPr>
            </a:pPr>
            <a:r>
              <a:t>The Student Mental Health Crisis</a:t>
            </a:r>
          </a:p>
          <a:p>
            <a:pPr>
              <a:defRPr sz="1200">
                <a:solidFill>
                  <a:srgbClr val="6C564C"/>
                </a:solidFill>
                <a:latin typeface="Arial"/>
              </a:defRPr>
            </a:pPr>
            <a:r>
              <a:t>Academic pressures and severe systemic barriers prevent university students from seeking timely help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269748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3946"/>
                </a:solidFill>
                <a:latin typeface="Georgia"/>
              </a:defRPr>
            </a:pPr>
            <a:r>
              <a:t>73.5%</a:t>
            </a:r>
          </a:p>
          <a:p>
            <a:pPr>
              <a:defRPr sz="900" b="1">
                <a:solidFill>
                  <a:srgbClr val="7D6456"/>
                </a:solidFill>
              </a:defRPr>
            </a:pPr>
            <a:r>
              <a:t>Academic Pressure Rate</a:t>
            </a:r>
            <a:br/>
          </a:p>
          <a:p>
            <a:pPr>
              <a:defRPr sz="1400" b="1">
                <a:solidFill>
                  <a:srgbClr val="4E3839"/>
                </a:solidFill>
                <a:latin typeface="Georgia"/>
              </a:defRPr>
            </a:pPr>
            <a:r>
              <a:t>Academic Burnout</a:t>
            </a:r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Intense competition for CGPA, relentless exam deadlines, and uncertain career prospects cause high chronic stress and burnout among university students.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2011680"/>
            <a:ext cx="269748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3946"/>
                </a:solidFill>
                <a:latin typeface="Georgia"/>
              </a:defRPr>
            </a:pPr>
            <a:r>
              <a:t>68.2%</a:t>
            </a:r>
          </a:p>
          <a:p>
            <a:pPr>
              <a:defRPr sz="900" b="1">
                <a:solidFill>
                  <a:srgbClr val="7D6456"/>
                </a:solidFill>
              </a:defRPr>
            </a:pPr>
            <a:r>
              <a:t>Unreported Stigma Rate</a:t>
            </a:r>
            <a:br/>
          </a:p>
          <a:p>
            <a:pPr>
              <a:defRPr sz="1400" b="1">
                <a:solidFill>
                  <a:srgbClr val="4E3839"/>
                </a:solidFill>
                <a:latin typeface="Georgia"/>
              </a:defRPr>
            </a:pPr>
            <a:r>
              <a:t>Social Stigma &amp; Fear</a:t>
            </a:r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Students fear being labeled or judged by peers, faculty, and family. On-campus counseling centers lack privacy, deterring students from visiting.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35624" y="2011680"/>
            <a:ext cx="269748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3946"/>
                </a:solidFill>
                <a:latin typeface="Georgia"/>
              </a:defRPr>
            </a:pPr>
            <a:r>
              <a:t>1:5000+</a:t>
            </a:r>
          </a:p>
          <a:p>
            <a:pPr>
              <a:defRPr sz="900" b="1">
                <a:solidFill>
                  <a:srgbClr val="7D6456"/>
                </a:solidFill>
              </a:defRPr>
            </a:pPr>
            <a:r>
              <a:t>Counselor-Student Ratio</a:t>
            </a:r>
            <a:br/>
          </a:p>
          <a:p>
            <a:pPr>
              <a:defRPr sz="1400" b="1">
                <a:solidFill>
                  <a:srgbClr val="4E3839"/>
                </a:solidFill>
                <a:latin typeface="Georgia"/>
              </a:defRPr>
            </a:pPr>
            <a:r>
              <a:t>Resource Scarcity</a:t>
            </a:r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Campus mental health services are critically understaffed, leading to multi-week waiting queues that leave students in crisis without urgent care.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51976" y="2011680"/>
            <a:ext cx="269748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3946"/>
                </a:solidFill>
                <a:latin typeface="Georgia"/>
              </a:defRPr>
            </a:pPr>
            <a:r>
              <a:t>4+ Apps</a:t>
            </a:r>
          </a:p>
          <a:p>
            <a:pPr>
              <a:defRPr sz="900" b="1">
                <a:solidFill>
                  <a:srgbClr val="7D6456"/>
                </a:solidFill>
              </a:defRPr>
            </a:pPr>
            <a:r>
              <a:t>Disconnected Tools</a:t>
            </a:r>
            <a:br/>
          </a:p>
          <a:p>
            <a:pPr>
              <a:defRPr sz="1400" b="1">
                <a:solidFill>
                  <a:srgbClr val="4E3839"/>
                </a:solidFill>
                <a:latin typeface="Georgia"/>
              </a:defRPr>
            </a:pPr>
            <a:r>
              <a:t>Tool Fragmentation</a:t>
            </a:r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Students must juggle separate apps for journaling, meditation, and therapy. Existing global apps ignore Bangladeshi context and require expensive subscriptions.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urovers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1346789" cy="411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326880" y="347472"/>
            <a:ext cx="2377440" cy="365760"/>
          </a:xfrm>
          <a:prstGeom prst="roundRect">
            <a:avLst/>
          </a:prstGeom>
          <a:solidFill>
            <a:srgbClr val="F4E2D3"/>
          </a:solidFill>
          <a:ln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E3B21"/>
                </a:solidFill>
              </a:defRPr>
            </a:pPr>
            <a:r>
              <a:t>SOLUTION OVERVIEW  •  04/27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E3839"/>
                </a:solidFill>
                <a:latin typeface="Georgia"/>
              </a:defRPr>
            </a:pPr>
            <a:r>
              <a:t>The Implemented Solution: NeuroVerse Ecosystem</a:t>
            </a:r>
          </a:p>
          <a:p>
            <a:pPr>
              <a:defRPr sz="1200">
                <a:solidFill>
                  <a:srgbClr val="6C564C"/>
                </a:solidFill>
                <a:latin typeface="Arial"/>
              </a:defRPr>
            </a:pPr>
            <a:r>
              <a:t>A unified, secure, AI-powered digital wellness ecosystem built specifically for university students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269748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63946"/>
                </a:solidFill>
                <a:latin typeface="Georgia"/>
              </a:defRPr>
            </a:pPr>
            <a:r>
              <a:t>1. Proactive AI Intelligence</a:t>
            </a:r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• Demographic Mood Regressor (1.0 to 5.0 baseline score)</a:t>
            </a:r>
            <a:br/>
            <a:r>
              <a:t>• Real-Time NLP Crisis Triage (&lt;15ms latency)</a:t>
            </a:r>
            <a:br/>
            <a:r>
              <a:t>• Knowledge Graph DFS personalized learning paths</a:t>
            </a:r>
            <a:br/>
            <a:r>
              <a:t>• Sleep-stress correlation alerts (r = -0.898)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2011680"/>
            <a:ext cx="269748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A9D8F"/>
                </a:solidFill>
                <a:latin typeface="Georgia"/>
              </a:defRPr>
            </a:pPr>
            <a:r>
              <a:t>2. Anonymous Peer Support</a:t>
            </a:r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• 100% pseudonymity with zero identity leakage</a:t>
            </a:r>
            <a:br/>
            <a:r>
              <a:t>• Topic feeds: Exam anxiety, burnout, loneliness</a:t>
            </a:r>
            <a:br/>
            <a:r>
              <a:t>• Automated real-time content moderation</a:t>
            </a:r>
            <a:br/>
            <a:r>
              <a:t>• Safe peer encouragement without faculty visibility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35624" y="2011680"/>
            <a:ext cx="269748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76F51"/>
                </a:solidFill>
                <a:latin typeface="Georgia"/>
              </a:defRPr>
            </a:pPr>
            <a:r>
              <a:t>3. Verified Clinical Access</a:t>
            </a:r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• Accredited psychologist profile directory</a:t>
            </a:r>
            <a:br/>
            <a:r>
              <a:t>• Direct in-app appointment calendar booking</a:t>
            </a:r>
            <a:br/>
            <a:r>
              <a:t>• Flexible scheduling matching class timetables</a:t>
            </a:r>
            <a:br/>
            <a:r>
              <a:t>• Encrypted and isolated clinical 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51976" y="2011680"/>
            <a:ext cx="269748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57B9D"/>
                </a:solidFill>
                <a:latin typeface="Georgia"/>
              </a:defRPr>
            </a:pPr>
            <a:r>
              <a:t>4. 24/7 Self-Help Resource Hub</a:t>
            </a:r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• Instant one-tap national emergency helplines (999, Kaan Pete Roi)</a:t>
            </a:r>
            <a:br/>
            <a:r>
              <a:t>• Interactive guided breathing &amp; meditation timers</a:t>
            </a:r>
            <a:br/>
            <a:r>
              <a:t>• Evidence-backed psycho-educational articles</a:t>
            </a:r>
            <a:br/>
            <a:r>
              <a:t>• Emergency hotline modal triggered by crisis NLP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urovers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1346789" cy="411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326880" y="347472"/>
            <a:ext cx="2377440" cy="365760"/>
          </a:xfrm>
          <a:prstGeom prst="roundRect">
            <a:avLst/>
          </a:prstGeom>
          <a:solidFill>
            <a:srgbClr val="F4E2D3"/>
          </a:solidFill>
          <a:ln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E3B21"/>
                </a:solidFill>
              </a:defRPr>
            </a:pPr>
            <a:r>
              <a:t>SYSTEM ARCHITECTURE  •  08/27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E3839"/>
                </a:solidFill>
                <a:latin typeface="Georgia"/>
              </a:defRPr>
            </a:pPr>
            <a:r>
              <a:t>System Architecture: Three-Tier Decoupled Microservice</a:t>
            </a:r>
          </a:p>
          <a:p>
            <a:pPr>
              <a:defRPr sz="1200">
                <a:solidFill>
                  <a:srgbClr val="6C564C"/>
                </a:solidFill>
                <a:latin typeface="Arial"/>
              </a:defRPr>
            </a:pPr>
            <a:r>
              <a:t>Isolating data-intensive machine learning inference from high-concurrency web transactions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269748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D6456"/>
                </a:solidFill>
              </a:defRPr>
            </a:pPr>
            <a:r>
              <a:t>Tier 1 • Client</a:t>
            </a:r>
            <a:br/>
          </a:p>
          <a:p>
            <a:pPr>
              <a:defRPr sz="1400" b="1">
                <a:solidFill>
                  <a:srgbClr val="4E3839"/>
                </a:solidFill>
                <a:latin typeface="Georgia"/>
              </a:defRPr>
            </a:pPr>
            <a:r>
              <a:t>Presentation Layer</a:t>
            </a:r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• React 18 &amp; Vite SPA framework</a:t>
            </a:r>
            <a:br/>
            <a:r>
              <a:t>• Tailwind CSS responsive design system</a:t>
            </a:r>
            <a:br/>
            <a:r>
              <a:t>• Axios REST client with JWT cookies</a:t>
            </a:r>
            <a:br/>
            <a:r>
              <a:t>• Real-time wellness telemetry widgets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2011680"/>
            <a:ext cx="269748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D6456"/>
                </a:solidFill>
              </a:defRPr>
            </a:pPr>
            <a:r>
              <a:t>Tier 2 • Primary API</a:t>
            </a:r>
            <a:br/>
          </a:p>
          <a:p>
            <a:pPr>
              <a:defRPr sz="1400" b="1">
                <a:solidFill>
                  <a:srgbClr val="4E3839"/>
                </a:solidFill>
                <a:latin typeface="Georgia"/>
              </a:defRPr>
            </a:pPr>
            <a:r>
              <a:t>Business Logic Server</a:t>
            </a:r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• Node.js &amp; Express.js API gateway</a:t>
            </a:r>
            <a:br/>
            <a:r>
              <a:t>• JWT in HTTP-Only, SameSite cookies</a:t>
            </a:r>
            <a:br/>
            <a:r>
              <a:t>• Strict Role-Based Access Control (RBAC)</a:t>
            </a:r>
            <a:br/>
            <a:r>
              <a:t>• High-concurrency async request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35624" y="2011680"/>
            <a:ext cx="2697480" cy="4206240"/>
          </a:xfrm>
          <a:prstGeom prst="roundRect">
            <a:avLst/>
          </a:prstGeom>
          <a:solidFill>
            <a:srgbClr val="FDEFE6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D6456"/>
                </a:solidFill>
              </a:defRPr>
            </a:pPr>
            <a:r>
              <a:t>Tier 3 • ML Engine</a:t>
            </a:r>
            <a:br/>
          </a:p>
          <a:p>
            <a:pPr>
              <a:defRPr sz="1400" b="1">
                <a:solidFill>
                  <a:srgbClr val="4E3839"/>
                </a:solidFill>
                <a:latin typeface="Georgia"/>
              </a:defRPr>
            </a:pPr>
            <a:r>
              <a:t>FastAPI Microservice</a:t>
            </a:r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• Python 3.10 &amp; Uvicorn ASGI workers</a:t>
            </a:r>
            <a:br/>
            <a:r>
              <a:t>• Scikit-Learn (Linear &amp; Logistic Reg)</a:t>
            </a:r>
            <a:br/>
            <a:r>
              <a:t>• TF-IDF n-gram vectorization</a:t>
            </a:r>
            <a:br/>
            <a:r>
              <a:t>• NetworkX Knowledge Graph DFS traversal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51976" y="2011680"/>
            <a:ext cx="269748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D6456"/>
                </a:solidFill>
              </a:defRPr>
            </a:pPr>
            <a:r>
              <a:t>Tier 4 • Persistence</a:t>
            </a:r>
            <a:br/>
          </a:p>
          <a:p>
            <a:pPr>
              <a:defRPr sz="1400" b="1">
                <a:solidFill>
                  <a:srgbClr val="4E3839"/>
                </a:solidFill>
                <a:latin typeface="Georgia"/>
              </a:defRPr>
            </a:pPr>
            <a:r>
              <a:t>MongoDB Atlas Cloud</a:t>
            </a:r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• MongoDB Atlas (v7.0) cloud cluster</a:t>
            </a:r>
            <a:br/>
            <a:r>
              <a:t>• Mongoose ODM schema enforcement</a:t>
            </a:r>
            <a:br/>
            <a:r>
              <a:t>• Indexed query optimization (&lt;15ms)</a:t>
            </a:r>
            <a:br/>
            <a:r>
              <a:t>• Automated point-in-time backups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urovers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1346789" cy="411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326880" y="347472"/>
            <a:ext cx="2377440" cy="365760"/>
          </a:xfrm>
          <a:prstGeom prst="roundRect">
            <a:avLst/>
          </a:prstGeom>
          <a:solidFill>
            <a:srgbClr val="F4E2D3"/>
          </a:solidFill>
          <a:ln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E3B21"/>
                </a:solidFill>
              </a:defRPr>
            </a:pPr>
            <a:r>
              <a:t>EMPIRICAL RESULTS  •  13/27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E3839"/>
                </a:solidFill>
                <a:latin typeface="Georgia"/>
              </a:defRPr>
            </a:pPr>
            <a:r>
              <a:t>Experimental Results: Demographic Mood Regression</a:t>
            </a:r>
          </a:p>
          <a:p>
            <a:pPr>
              <a:defRPr sz="1200">
                <a:solidFill>
                  <a:srgbClr val="6C564C"/>
                </a:solidFill>
                <a:latin typeface="Arial"/>
              </a:defRPr>
            </a:pPr>
            <a:r>
              <a:t>Benchmarking regression architectures on student wellness prediction under 5-Fold Cross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530352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E3839"/>
                </a:solidFill>
              </a:defRPr>
            </a:pPr>
            <a:r>
              <a:t>Model Benchmark Comparison (Holdout Set):</a:t>
            </a:r>
            <a:br/>
          </a:p>
          <a:p>
            <a:pPr>
              <a:defRPr sz="1100" b="1">
                <a:solidFill>
                  <a:srgbClr val="E63946"/>
                </a:solidFill>
              </a:defRPr>
            </a:pPr>
            <a:r>
              <a:t>• Linear Regression (Selected): R² = 0.423 | MAE = 0.727</a:t>
            </a:r>
            <a:br/>
            <a:r>
              <a:t>• Gradient Boosting Regressor: R² = 0.169 | MAE = 0.847</a:t>
            </a:r>
            <a:br/>
            <a:r>
              <a:t>• Random Forest Regressor: R² = 0.142 | MAE = 0.803</a:t>
            </a:r>
            <a:br/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Key Technical Discussion:</a:t>
            </a:r>
            <a:br/>
            <a:r>
              <a:t>• Why Linear Regression Outperformed Ensembles: Demographic predictors (academic progression, marital status) exhibit linear macro trends. Complex tree ensembles suffered from variance overfitting on the limited demographic sample size.</a:t>
            </a:r>
            <a:br/>
            <a:r>
              <a:t>• Operational Significance: Linear regression achieves stable baseline predictions with an MAE of 0.727 on a 5.0 scale without overfitting.</a:t>
            </a:r>
          </a:p>
        </p:txBody>
      </p:sp>
      <p:pic>
        <p:nvPicPr>
          <p:cNvPr id="7" name="Picture 6" descr="moo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011680"/>
            <a:ext cx="557784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urovers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1346789" cy="411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326880" y="347472"/>
            <a:ext cx="2377440" cy="365760"/>
          </a:xfrm>
          <a:prstGeom prst="roundRect">
            <a:avLst/>
          </a:prstGeom>
          <a:solidFill>
            <a:srgbClr val="F4E2D3"/>
          </a:solidFill>
          <a:ln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E3B21"/>
                </a:solidFill>
              </a:defRPr>
            </a:pPr>
            <a:r>
              <a:t>EMPIRICAL RESULTS  •  14/27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E3839"/>
                </a:solidFill>
                <a:latin typeface="Georgia"/>
              </a:defRPr>
            </a:pPr>
            <a:r>
              <a:t>Experimental Results: NLP Sentiment &amp; Crisis Triage</a:t>
            </a:r>
          </a:p>
          <a:p>
            <a:pPr>
              <a:defRPr sz="1200">
                <a:solidFill>
                  <a:srgbClr val="6C564C"/>
                </a:solidFill>
                <a:latin typeface="Arial"/>
              </a:defRPr>
            </a:pPr>
            <a:r>
              <a:t>Benchmarking multi-class text classifiers on 16,203 holdout statements (81,020 total corpus)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530352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E3839"/>
                </a:solidFill>
              </a:defRPr>
            </a:pPr>
            <a:r>
              <a:t>NLP Classifier Comparison (16,203 Test Samples):</a:t>
            </a:r>
            <a:br/>
          </a:p>
          <a:p>
            <a:pPr>
              <a:defRPr sz="1100" b="1">
                <a:solidFill>
                  <a:srgbClr val="E63946"/>
                </a:solidFill>
              </a:defRPr>
            </a:pPr>
            <a:r>
              <a:t>• Logistic Regression (Selected): Acc = 81.8% | F1 = 0.814 | Latency = 1.2 ms</a:t>
            </a:r>
            <a:br/>
            <a:r>
              <a:t>• Linear SVM: Acc = 81.7% | F1 = 0.812 | Latency = 4.8 ms</a:t>
            </a:r>
            <a:br/>
            <a:r>
              <a:t>• Random Forest: Acc = 81.0% | F1 = 0.801 | Latency = 14.5 ms</a:t>
            </a:r>
            <a:br/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Key Technical Discussion:</a:t>
            </a:r>
            <a:br/>
            <a:r>
              <a:t>• High-Dimensional Linearity: In 5,000-dimensional sparse TF-IDF unigram/bigram spaces, linear decision boundaries generalize superiorly to orthogonal tree splits.</a:t>
            </a:r>
            <a:br/>
            <a:r>
              <a:t>• Latency Advantage: 1.2 ms inference latency allows real-time triage during live student journal typing.</a:t>
            </a:r>
            <a:br/>
            <a:r>
              <a:t>• Probabilistic Calibration: Enables clinical confidence scoring for high-risk flags.</a:t>
            </a:r>
          </a:p>
        </p:txBody>
      </p:sp>
      <p:pic>
        <p:nvPicPr>
          <p:cNvPr id="7" name="Picture 6" descr="sentimen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011680"/>
            <a:ext cx="557784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urovers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1346789" cy="411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326880" y="347472"/>
            <a:ext cx="2377440" cy="365760"/>
          </a:xfrm>
          <a:prstGeom prst="roundRect">
            <a:avLst/>
          </a:prstGeom>
          <a:solidFill>
            <a:srgbClr val="F4E2D3"/>
          </a:solidFill>
          <a:ln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E3B21"/>
                </a:solidFill>
              </a:defRPr>
            </a:pPr>
            <a:r>
              <a:t>SAFETY EVALUATION  •  15/27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E3839"/>
                </a:solidFill>
                <a:latin typeface="Georgia"/>
              </a:defRPr>
            </a:pPr>
            <a:r>
              <a:t>Safety Triage: Crisis Detection &amp; Emergency Protocol</a:t>
            </a:r>
          </a:p>
          <a:p>
            <a:pPr>
              <a:defRPr sz="1200">
                <a:solidFill>
                  <a:srgbClr val="6C564C"/>
                </a:solidFill>
                <a:latin typeface="Arial"/>
              </a:defRPr>
            </a:pPr>
            <a:r>
              <a:t>High-sensitivity crisis identification backed by automated, life-saving clinical escalation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530352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E3839"/>
                </a:solidFill>
              </a:defRPr>
            </a:pPr>
            <a:r>
              <a:t>Crisis Classification Performance Matrix (N = 16,203):</a:t>
            </a:r>
            <a:br/>
          </a:p>
          <a:p>
            <a:pPr>
              <a:defRPr sz="1100" b="1">
                <a:solidFill>
                  <a:srgbClr val="E63946"/>
                </a:solidFill>
              </a:defRPr>
            </a:pPr>
            <a:r>
              <a:t>• CRISIS Class: 3,842 True Positives | 84.6% Recall | 87.0% Precision</a:t>
            </a:r>
            <a:br/>
            <a:r>
              <a:t>• NEGATIVE Class: 5,104 True Positives | 79.9% Recall | 79.8% Precision</a:t>
            </a:r>
            <a:br/>
            <a:r>
              <a:t>• NEUTRAL Class: 4,362 True Positives | 82.3% Recall | 81.0% Precision</a:t>
            </a:r>
            <a:br/>
            <a:r>
              <a:t>• Overall Multi-Class Accuracy: 81.8%</a:t>
            </a:r>
            <a:br/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Clinical Safety Escalation Protocol:</a:t>
            </a:r>
            <a:br/>
            <a:r>
              <a:t>• 84.6% High-Risk Recall: Ensures self-harm and suicidal expressions are rarely missed.</a:t>
            </a:r>
            <a:br/>
            <a:r>
              <a:t>• Automatic Trigger: Upon detection of a CRISIS state, the system immediately launches an emergency modal with one-tap dialers to Bangladesh national hotlines (Kaan Pete Roi, 999) and connects to urgent professional support.</a:t>
            </a:r>
          </a:p>
        </p:txBody>
      </p:sp>
      <p:pic>
        <p:nvPicPr>
          <p:cNvPr id="7" name="Picture 6" descr="sentimen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011680"/>
            <a:ext cx="5577840" cy="41833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urovers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1346789" cy="411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326880" y="347472"/>
            <a:ext cx="2377440" cy="365760"/>
          </a:xfrm>
          <a:prstGeom prst="roundRect">
            <a:avLst/>
          </a:prstGeom>
          <a:solidFill>
            <a:srgbClr val="F4E2D3"/>
          </a:solidFill>
          <a:ln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E3B21"/>
                </a:solidFill>
              </a:defRPr>
            </a:pPr>
            <a:r>
              <a:t>PERFORMANCE BENCHMARKS  •  17/27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E3839"/>
                </a:solidFill>
                <a:latin typeface="Georgia"/>
              </a:defRPr>
            </a:pPr>
            <a:r>
              <a:t>System Performance &amp; Real-World API Latency Benchmarks</a:t>
            </a:r>
          </a:p>
          <a:p>
            <a:pPr>
              <a:defRPr sz="1200">
                <a:solidFill>
                  <a:srgbClr val="6C564C"/>
                </a:solidFill>
                <a:latin typeface="Arial"/>
              </a:defRPr>
            </a:pPr>
            <a:r>
              <a:t>Rigorous latency profiling confirming sub-25ms execution across all production microservice 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594360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E3839"/>
                </a:solidFill>
              </a:defRPr>
            </a:pPr>
            <a:r>
              <a:t>API Latency Benchmarks (Mean Latency):</a:t>
            </a:r>
            <a:br/>
          </a:p>
          <a:p>
            <a:pPr>
              <a:defRPr sz="1100" b="1">
                <a:solidFill>
                  <a:srgbClr val="E63946"/>
                </a:solidFill>
              </a:defRPr>
            </a:pPr>
            <a:r>
              <a:t>• POST /api/auth/login (Express/Bcrypt+JWT): 14 ms [200 OK]</a:t>
            </a:r>
            <a:br/>
            <a:r>
              <a:t>• GET /api/wellness/logs (Express/Mongoose): 18 ms [200 OK]</a:t>
            </a:r>
            <a:br/>
            <a:r>
              <a:t>• GET /api/community/posts (Express/Indexed): 12 ms [200 OK]</a:t>
            </a:r>
            <a:br/>
            <a:r>
              <a:t>• POST /ml/sentiment (FastAPI/TF-IDF LogReg): 1.2 ms [200 OK]</a:t>
            </a:r>
            <a:br/>
            <a:r>
              <a:t>• POST /ml/predict-mood (FastAPI/LinearReg): 4.0 ms [200 OK]</a:t>
            </a:r>
            <a:br/>
            <a:r>
              <a:t>• GET /ml/graph/path (FastAPI/NetworkX DFS): 24.0 ms [200 OK]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675120" y="2011680"/>
            <a:ext cx="493776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63946"/>
                </a:solidFill>
                <a:latin typeface="Georgia"/>
              </a:defRPr>
            </a:pPr>
            <a:r>
              <a:t>&lt; 25 ms</a:t>
            </a:r>
            <a:br/>
            <a:r>
              <a:t>All Endpoints Under Latency Ceiling</a:t>
            </a:r>
          </a:p>
          <a:p>
            <a:br/>
            <a:pPr>
              <a:defRPr sz="1100">
                <a:solidFill>
                  <a:srgbClr val="2E2522"/>
                </a:solidFill>
              </a:defRPr>
            </a:pPr>
            <a:r>
              <a:t>• Human Interactive Threshold: 200 ms. All NeuroVerse endpoints operate at less than 12.5% of this ceiling.</a:t>
            </a:r>
            <a:br/>
            <a:br/>
            <a:r>
              <a:t>• Complete Event Loop Isolation: Offloading ML computation to the FastAPI microservice leaves Node.js responsive and unblocked even under high concurrent student traffic.</a:t>
            </a:r>
            <a:br/>
            <a:br/>
            <a:r>
              <a:t>• Production Verified: Guaranteed zero thread starvation during peak semester exam periods.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urovers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1346789" cy="411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326880" y="347472"/>
            <a:ext cx="2377440" cy="365760"/>
          </a:xfrm>
          <a:prstGeom prst="roundRect">
            <a:avLst/>
          </a:prstGeom>
          <a:solidFill>
            <a:srgbClr val="F4E2D3"/>
          </a:solidFill>
          <a:ln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E3B21"/>
                </a:solidFill>
              </a:defRPr>
            </a:pPr>
            <a:r>
              <a:t>IMPLEMENTED SYSTEM  •  20/27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E3839"/>
                </a:solidFill>
                <a:latin typeface="Georgia"/>
              </a:defRPr>
            </a:pPr>
            <a:r>
              <a:t>Implemented System: Student Wellness Analytics Dashboard</a:t>
            </a:r>
          </a:p>
          <a:p>
            <a:pPr>
              <a:defRPr sz="1200">
                <a:solidFill>
                  <a:srgbClr val="6C564C"/>
                </a:solidFill>
                <a:latin typeface="Arial"/>
              </a:defRPr>
            </a:pPr>
            <a:r>
              <a:t>Centralized student health cockpit featuring dynamic telemetry widgets and habit tracking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0"/>
            <a:ext cx="6035040" cy="51874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66560" y="2011680"/>
            <a:ext cx="484632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E3839"/>
                </a:solidFill>
                <a:latin typeface="Georgia"/>
              </a:defRPr>
            </a:pPr>
            <a:r>
              <a:t>Key Implemented Capabilities:</a:t>
            </a:r>
            <a:br/>
          </a:p>
          <a:p>
            <a:pPr>
              <a:defRPr sz="1100">
                <a:solidFill>
                  <a:srgbClr val="2E2522"/>
                </a:solidFill>
              </a:defRPr>
            </a:pPr>
            <a:r>
              <a:t>• Multi-Metric Daily Telemetry: Interactive sliders tracking emotional state, sleep hours, water hydration, and physical activity.</a:t>
            </a:r>
            <a:br/>
            <a:br/>
            <a:r>
              <a:t>• Longitudinal Trend Graphs: SVG charts visualize emotional drift over days, weeks, and semesters to spot pre-exam burnout.</a:t>
            </a:r>
            <a:br/>
            <a:br/>
            <a:r>
              <a:t>• Proactive AI Coping Prompts: Dynamic recommendation engine suggests specific breathing exercises or articles based on recent stress spikes.</a:t>
            </a:r>
            <a:br/>
            <a:br/>
            <a:r>
              <a:t>• Low-Friction UX: Sub-30 second logging flow designed to minimize user friction during busy university routines.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urovers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1346789" cy="411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326880" y="347472"/>
            <a:ext cx="2377440" cy="365760"/>
          </a:xfrm>
          <a:prstGeom prst="roundRect">
            <a:avLst/>
          </a:prstGeom>
          <a:solidFill>
            <a:srgbClr val="F4E2D3"/>
          </a:solidFill>
          <a:ln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E3B21"/>
                </a:solidFill>
              </a:defRPr>
            </a:pPr>
            <a:r>
              <a:t>PROJECT MILESTONES  •  25/27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E3839"/>
                </a:solidFill>
                <a:latin typeface="Georgia"/>
              </a:defRPr>
            </a:pPr>
            <a:r>
              <a:t>Summary of FYDP-II Technical Contributions</a:t>
            </a:r>
          </a:p>
          <a:p>
            <a:pPr>
              <a:defRPr sz="1200">
                <a:solidFill>
                  <a:srgbClr val="6C564C"/>
                </a:solidFill>
                <a:latin typeface="Arial"/>
              </a:defRPr>
            </a:pPr>
            <a:r>
              <a:t>Transforming the original FYDP-I proposal into an operational, empirical production ecosystem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269748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63946"/>
                </a:solidFill>
                <a:latin typeface="Georgia"/>
              </a:defRPr>
            </a:pPr>
            <a:r>
              <a:t>1. Decoupled Microservice</a:t>
            </a:r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Designed and deployed a high-performance 3-tier MERN + FastAPI hybrid architecture that protects the Node.js event loop and achieves sub-25ms response times.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2011680"/>
            <a:ext cx="269748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A9D8F"/>
                </a:solidFill>
                <a:latin typeface="Georgia"/>
              </a:defRPr>
            </a:pPr>
            <a:r>
              <a:t>2. Leakage Resolution</a:t>
            </a:r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Identified and resolved a fatal target leakage flaw in demographic models; engineered the clinical Score_mh formula and validated genuine Linear Regression baseline generalization.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35624" y="2011680"/>
            <a:ext cx="269748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76F51"/>
                </a:solidFill>
                <a:latin typeface="Georgia"/>
              </a:defRPr>
            </a:pPr>
            <a:r>
              <a:t>3. High-Recall Crisis Net</a:t>
            </a:r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Trained a TF-IDF Logistic Regression classifier delivering 81.8% accuracy and 84.6% crisis recall on 16,203 test samples with 1.2 ms inference and automated emergency triggers.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51976" y="2011680"/>
            <a:ext cx="2697480" cy="4206240"/>
          </a:xfrm>
          <a:prstGeom prst="roundRect">
            <a:avLst/>
          </a:prstGeom>
          <a:solidFill>
            <a:srgbClr val="FDF2E7"/>
          </a:solidFill>
          <a:ln w="19050">
            <a:solidFill>
              <a:srgbClr val="EC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57B9D"/>
                </a:solidFill>
                <a:latin typeface="Georgia"/>
              </a:defRPr>
            </a:pPr>
            <a:r>
              <a:t>4. Production Full-Stack</a:t>
            </a:r>
            <a:br/>
          </a:p>
          <a:p>
            <a:pPr>
              <a:defRPr sz="1050">
                <a:solidFill>
                  <a:srgbClr val="2E2522"/>
                </a:solidFill>
              </a:defRPr>
            </a:pPr>
            <a:r>
              <a:t>Delivered a complete, responsive full-stack platform featuring JWT RBAC security, dynamic wellness telemetry, anonymous peer forums, and therapist scheduling.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urovers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97280"/>
            <a:ext cx="1945363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4E3839"/>
                </a:solidFill>
                <a:latin typeface="Georgia"/>
              </a:defRPr>
            </a:pPr>
            <a:r>
              <a:t>Thank You!</a:t>
            </a:r>
          </a:p>
          <a:p>
            <a:pPr algn="ctr">
              <a:defRPr sz="1600">
                <a:solidFill>
                  <a:srgbClr val="6C564C"/>
                </a:solidFill>
              </a:defRPr>
            </a:pPr>
            <a:r>
              <a:t>NeuroVerse: Empowering Student Mental Health Through Decoupled AI &amp; Community Care</a:t>
            </a:r>
            <a:br/>
            <a:r>
              <a:t>Open Floor for Questions &amp; Examination Board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